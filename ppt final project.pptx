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16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Sales</a:t>
            </a:r>
            <a:r>
              <a:rPr lang="en-US" baseline="0" dirty="0"/>
              <a:t> and income of PRAN-RFL</a:t>
            </a:r>
            <a:endParaRPr lang="en-US" dirty="0"/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ysClr val="windowText" lastClr="000000"/>
              </a:solidFill>
            </c:spPr>
            <c:extLst>
              <c:ext xmlns:c16="http://schemas.microsoft.com/office/drawing/2014/chart" uri="{C3380CC4-5D6E-409C-BE32-E72D297353CC}">
                <c16:uniqueId val="{00000001-5AAA-4DA6-8B0F-181EA3AA9BA5}"/>
              </c:ext>
            </c:extLst>
          </c:dPt>
          <c:dPt>
            <c:idx val="1"/>
            <c:invertIfNegative val="0"/>
            <c:bubble3D val="0"/>
            <c:spPr>
              <a:solidFill>
                <a:sysClr val="windowText" lastClr="000000"/>
              </a:solidFill>
            </c:spPr>
            <c:extLst>
              <c:ext xmlns:c16="http://schemas.microsoft.com/office/drawing/2014/chart" uri="{C3380CC4-5D6E-409C-BE32-E72D297353CC}">
                <c16:uniqueId val="{00000003-5AAA-4DA6-8B0F-181EA3AA9BA5}"/>
              </c:ext>
            </c:extLst>
          </c:dPt>
          <c:dPt>
            <c:idx val="2"/>
            <c:invertIfNegative val="0"/>
            <c:bubble3D val="0"/>
            <c:spPr>
              <a:solidFill>
                <a:sysClr val="windowText" lastClr="000000"/>
              </a:solidFill>
            </c:spPr>
            <c:extLst>
              <c:ext xmlns:c16="http://schemas.microsoft.com/office/drawing/2014/chart" uri="{C3380CC4-5D6E-409C-BE32-E72D297353CC}">
                <c16:uniqueId val="{00000005-5AAA-4DA6-8B0F-181EA3AA9BA5}"/>
              </c:ext>
            </c:extLst>
          </c:dPt>
          <c:dPt>
            <c:idx val="3"/>
            <c:invertIfNegative val="0"/>
            <c:bubble3D val="0"/>
            <c:spPr>
              <a:solidFill>
                <a:sysClr val="windowText" lastClr="000000"/>
              </a:solidFill>
            </c:spPr>
            <c:extLst>
              <c:ext xmlns:c16="http://schemas.microsoft.com/office/drawing/2014/chart" uri="{C3380CC4-5D6E-409C-BE32-E72D297353CC}">
                <c16:uniqueId val="{00000007-5AAA-4DA6-8B0F-181EA3AA9BA5}"/>
              </c:ext>
            </c:extLst>
          </c:dPt>
          <c:dPt>
            <c:idx val="4"/>
            <c:invertIfNegative val="0"/>
            <c:bubble3D val="0"/>
            <c:spPr>
              <a:solidFill>
                <a:sysClr val="windowText" lastClr="000000"/>
              </a:solidFill>
            </c:spPr>
            <c:extLst>
              <c:ext xmlns:c16="http://schemas.microsoft.com/office/drawing/2014/chart" uri="{C3380CC4-5D6E-409C-BE32-E72D297353CC}">
                <c16:uniqueId val="{00000009-5AAA-4DA6-8B0F-181EA3AA9BA5}"/>
              </c:ext>
            </c:extLst>
          </c:dPt>
          <c:dPt>
            <c:idx val="5"/>
            <c:invertIfNegative val="0"/>
            <c:bubble3D val="0"/>
            <c:spPr>
              <a:solidFill>
                <a:sysClr val="windowText" lastClr="000000"/>
              </a:solidFill>
            </c:spPr>
            <c:extLst>
              <c:ext xmlns:c16="http://schemas.microsoft.com/office/drawing/2014/chart" uri="{C3380CC4-5D6E-409C-BE32-E72D297353CC}">
                <c16:uniqueId val="{0000000B-5AAA-4DA6-8B0F-181EA3AA9BA5}"/>
              </c:ext>
            </c:extLst>
          </c:dPt>
          <c:cat>
            <c:strRef>
              <c:f>Sheet1!$C$4:$C$9</c:f>
              <c:strCache>
                <c:ptCount val="6"/>
                <c:pt idx="0">
                  <c:v>Revenue</c:v>
                </c:pt>
                <c:pt idx="1">
                  <c:v>Operating incone</c:v>
                </c:pt>
                <c:pt idx="2">
                  <c:v>Net income</c:v>
                </c:pt>
                <c:pt idx="3">
                  <c:v>Export goals</c:v>
                </c:pt>
                <c:pt idx="4">
                  <c:v>Annual Turnover</c:v>
                </c:pt>
                <c:pt idx="5">
                  <c:v>Total</c:v>
                </c:pt>
              </c:strCache>
            </c:strRef>
          </c:cat>
          <c:val>
            <c:numRef>
              <c:f>Sheet1!$D$4:$D$9</c:f>
              <c:numCache>
                <c:formatCode>General</c:formatCode>
                <c:ptCount val="6"/>
                <c:pt idx="0">
                  <c:v>4690000000</c:v>
                </c:pt>
                <c:pt idx="1">
                  <c:v>359670000</c:v>
                </c:pt>
                <c:pt idx="2">
                  <c:v>83000000</c:v>
                </c:pt>
                <c:pt idx="3">
                  <c:v>2000000000</c:v>
                </c:pt>
                <c:pt idx="4">
                  <c:v>2000000000</c:v>
                </c:pt>
                <c:pt idx="5">
                  <c:v>9132670000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AAA-4DA6-8B0F-181EA3AA9B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122366592"/>
        <c:axId val="122368384"/>
      </c:barChart>
      <c:catAx>
        <c:axId val="12236659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22368384"/>
        <c:crosses val="autoZero"/>
        <c:auto val="1"/>
        <c:lblAlgn val="ctr"/>
        <c:lblOffset val="100"/>
        <c:noMultiLvlLbl val="0"/>
      </c:catAx>
      <c:valAx>
        <c:axId val="122368384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crossAx val="12236659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externalData r:id="rId2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59943D-1CA9-4FF0-80DB-152E40124E17}" type="doc">
      <dgm:prSet loTypeId="urn:microsoft.com/office/officeart/2005/8/layout/hProcess4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52E6BA-94F6-4E37-8BA1-D20B2C076C63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b="1" dirty="0"/>
            <a:t>INCEPTION</a:t>
          </a:r>
        </a:p>
      </dgm:t>
    </dgm:pt>
    <dgm:pt modelId="{EC35E364-30E8-49AD-A17C-2A951B36E376}" type="parTrans" cxnId="{1FB61211-EB3C-45F6-AFDE-E91640BB2BF1}">
      <dgm:prSet/>
      <dgm:spPr/>
      <dgm:t>
        <a:bodyPr/>
        <a:lstStyle/>
        <a:p>
          <a:endParaRPr lang="en-US"/>
        </a:p>
      </dgm:t>
    </dgm:pt>
    <dgm:pt modelId="{CF597A0C-3125-4378-A6DC-CA4F2607FE41}" type="sibTrans" cxnId="{1FB61211-EB3C-45F6-AFDE-E91640BB2BF1}">
      <dgm:prSet/>
      <dgm:spPr>
        <a:solidFill>
          <a:schemeClr val="tx1"/>
        </a:solidFill>
      </dgm:spPr>
      <dgm:t>
        <a:bodyPr/>
        <a:lstStyle/>
        <a:p>
          <a:endParaRPr lang="en-US"/>
        </a:p>
      </dgm:t>
    </dgm:pt>
    <dgm:pt modelId="{23606E21-7B2E-48BC-9ADA-F09C986149EA}">
      <dgm:prSet phldrT="[Text]"/>
      <dgm:spPr>
        <a:solidFill>
          <a:schemeClr val="bg1">
            <a:lumMod val="95000"/>
          </a:schemeClr>
        </a:solidFill>
        <a:ln w="28575">
          <a:solidFill>
            <a:schemeClr val="tx1"/>
          </a:solidFill>
        </a:ln>
        <a:effectLst>
          <a:reflection blurRad="6350" stA="50000" endA="300" endPos="55000" dir="5400000" sy="-100000" algn="bl" rotWithShape="0"/>
        </a:effectLst>
      </dgm:spPr>
      <dgm:t>
        <a:bodyPr/>
        <a:lstStyle/>
        <a:p>
          <a:pPr algn="ctr"/>
          <a:r>
            <a:rPr lang="en-US" b="0" i="0" dirty="0"/>
            <a:t>The journey of PRAN started from 1981 and its evolution to one of the top food manufacturing companies that have set the grounds for development for any potentialities.</a:t>
          </a:r>
          <a:endParaRPr lang="en-US" dirty="0"/>
        </a:p>
      </dgm:t>
    </dgm:pt>
    <dgm:pt modelId="{3CA63B22-4E2B-4492-BB4B-1474879954A2}" type="parTrans" cxnId="{9CDFA829-78E5-4678-98BF-5DB471C1E9C1}">
      <dgm:prSet/>
      <dgm:spPr/>
      <dgm:t>
        <a:bodyPr/>
        <a:lstStyle/>
        <a:p>
          <a:endParaRPr lang="en-US"/>
        </a:p>
      </dgm:t>
    </dgm:pt>
    <dgm:pt modelId="{1C918F6B-8927-4DB8-A5F9-AF1309497E5E}" type="sibTrans" cxnId="{9CDFA829-78E5-4678-98BF-5DB471C1E9C1}">
      <dgm:prSet/>
      <dgm:spPr/>
      <dgm:t>
        <a:bodyPr/>
        <a:lstStyle/>
        <a:p>
          <a:endParaRPr lang="en-US"/>
        </a:p>
      </dgm:t>
    </dgm:pt>
    <dgm:pt modelId="{2A4E914B-C3E7-41EB-83DD-4A6912B12987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b="1" dirty="0"/>
            <a:t>MISSION AND VISION</a:t>
          </a:r>
        </a:p>
      </dgm:t>
    </dgm:pt>
    <dgm:pt modelId="{B6698DA5-3E94-4ABC-B070-42576D42793E}" type="parTrans" cxnId="{9B77FF23-CD5D-4C5B-9C2E-777905DD5B5C}">
      <dgm:prSet/>
      <dgm:spPr/>
      <dgm:t>
        <a:bodyPr/>
        <a:lstStyle/>
        <a:p>
          <a:endParaRPr lang="en-US"/>
        </a:p>
      </dgm:t>
    </dgm:pt>
    <dgm:pt modelId="{A86B75D9-A158-453F-B96C-3634FF6B46AD}" type="sibTrans" cxnId="{9B77FF23-CD5D-4C5B-9C2E-777905DD5B5C}">
      <dgm:prSet/>
      <dgm:spPr>
        <a:solidFill>
          <a:schemeClr val="tx1"/>
        </a:solidFill>
      </dgm:spPr>
      <dgm:t>
        <a:bodyPr/>
        <a:lstStyle/>
        <a:p>
          <a:endParaRPr lang="en-US"/>
        </a:p>
      </dgm:t>
    </dgm:pt>
    <dgm:pt modelId="{8B682064-F511-46BD-AF3B-B9155253426A}">
      <dgm:prSet phldrT="[Text]" custT="1"/>
      <dgm:spPr>
        <a:solidFill>
          <a:schemeClr val="bg1">
            <a:lumMod val="95000"/>
          </a:schemeClr>
        </a:solidFill>
        <a:ln w="28575">
          <a:solidFill>
            <a:schemeClr val="tx1"/>
          </a:solidFill>
        </a:ln>
        <a:effectLst>
          <a:reflection blurRad="6350" stA="50000" endA="300" endPos="55000" dir="5400000" sy="-100000" algn="bl" rotWithShape="0"/>
        </a:effectLst>
      </dgm:spPr>
      <dgm:t>
        <a:bodyPr/>
        <a:lstStyle/>
        <a:p>
          <a:pPr algn="ctr"/>
          <a:r>
            <a:rPr lang="en-US" sz="1400" b="0" i="0" dirty="0"/>
            <a:t>At PRAN we aspire to generate employment and earn dignity and self-respect for our compatriots through profitable enterprises</a:t>
          </a:r>
          <a:r>
            <a:rPr lang="en-US" sz="1200" b="0" i="0" dirty="0"/>
            <a:t>.</a:t>
          </a:r>
          <a:endParaRPr lang="en-US" sz="1200" dirty="0"/>
        </a:p>
      </dgm:t>
    </dgm:pt>
    <dgm:pt modelId="{000B45EF-17D8-4D78-BDDC-C29237344675}" type="parTrans" cxnId="{68F01786-5B2D-4FA4-9874-DB0D91A02835}">
      <dgm:prSet/>
      <dgm:spPr/>
      <dgm:t>
        <a:bodyPr/>
        <a:lstStyle/>
        <a:p>
          <a:endParaRPr lang="en-US"/>
        </a:p>
      </dgm:t>
    </dgm:pt>
    <dgm:pt modelId="{363594EF-0978-4207-ABBB-9CED35BD8DBA}" type="sibTrans" cxnId="{68F01786-5B2D-4FA4-9874-DB0D91A02835}">
      <dgm:prSet/>
      <dgm:spPr/>
      <dgm:t>
        <a:bodyPr/>
        <a:lstStyle/>
        <a:p>
          <a:endParaRPr lang="en-US"/>
        </a:p>
      </dgm:t>
    </dgm:pt>
    <dgm:pt modelId="{617288E5-0CAB-4467-B411-777B5CAFF836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b="1" dirty="0"/>
            <a:t>CORPORATE VALUES</a:t>
          </a:r>
        </a:p>
      </dgm:t>
    </dgm:pt>
    <dgm:pt modelId="{C426957E-D26F-4C68-A686-84FCB33C8ECE}" type="parTrans" cxnId="{542F5DFD-D9B8-46B1-95FF-E503C1186C30}">
      <dgm:prSet/>
      <dgm:spPr/>
      <dgm:t>
        <a:bodyPr/>
        <a:lstStyle/>
        <a:p>
          <a:endParaRPr lang="en-US"/>
        </a:p>
      </dgm:t>
    </dgm:pt>
    <dgm:pt modelId="{93559D63-6676-4F45-AA3C-C93DAF408D0D}" type="sibTrans" cxnId="{542F5DFD-D9B8-46B1-95FF-E503C1186C30}">
      <dgm:prSet/>
      <dgm:spPr/>
      <dgm:t>
        <a:bodyPr/>
        <a:lstStyle/>
        <a:p>
          <a:endParaRPr lang="en-US"/>
        </a:p>
      </dgm:t>
    </dgm:pt>
    <dgm:pt modelId="{8287F7CB-AD29-48D8-8E20-2C44F8CDEB67}">
      <dgm:prSet phldrT="[Text]"/>
      <dgm:spPr>
        <a:solidFill>
          <a:schemeClr val="bg1">
            <a:lumMod val="95000"/>
            <a:alpha val="90000"/>
          </a:schemeClr>
        </a:solidFill>
        <a:ln w="28575">
          <a:solidFill>
            <a:schemeClr val="tx1"/>
          </a:solidFill>
        </a:ln>
        <a:effectLst>
          <a:reflection blurRad="6350" stA="50000" endA="300" endPos="55000" dir="5400000" sy="-100000" algn="bl" rotWithShape="0"/>
        </a:effectLst>
      </dgm:spPr>
      <dgm:t>
        <a:bodyPr/>
        <a:lstStyle/>
        <a:p>
          <a:r>
            <a:rPr lang="en-US" b="0" i="0" dirty="0"/>
            <a:t>We view our consumers as our king and us as their partners. Our consumers have given us great success over the years.</a:t>
          </a:r>
          <a:endParaRPr lang="en-US" dirty="0"/>
        </a:p>
      </dgm:t>
    </dgm:pt>
    <dgm:pt modelId="{FCD9CB5E-A67D-458C-963D-4850C200C31E}" type="parTrans" cxnId="{716132E0-57F8-4BE2-AF74-4EAF4FE3BB23}">
      <dgm:prSet/>
      <dgm:spPr/>
      <dgm:t>
        <a:bodyPr/>
        <a:lstStyle/>
        <a:p>
          <a:endParaRPr lang="en-US"/>
        </a:p>
      </dgm:t>
    </dgm:pt>
    <dgm:pt modelId="{0FD49740-66F6-4BC0-8AD5-7D4AC6A844C8}" type="sibTrans" cxnId="{716132E0-57F8-4BE2-AF74-4EAF4FE3BB23}">
      <dgm:prSet/>
      <dgm:spPr/>
      <dgm:t>
        <a:bodyPr/>
        <a:lstStyle/>
        <a:p>
          <a:endParaRPr lang="en-US"/>
        </a:p>
      </dgm:t>
    </dgm:pt>
    <dgm:pt modelId="{E87298E0-78ED-442D-9EE7-41EAA9F68915}" type="pres">
      <dgm:prSet presAssocID="{F859943D-1CA9-4FF0-80DB-152E40124E17}" presName="Name0" presStyleCnt="0">
        <dgm:presLayoutVars>
          <dgm:dir/>
          <dgm:animLvl val="lvl"/>
          <dgm:resizeHandles val="exact"/>
        </dgm:presLayoutVars>
      </dgm:prSet>
      <dgm:spPr/>
    </dgm:pt>
    <dgm:pt modelId="{88CE462A-5F0F-4A20-8931-00861DB6EC22}" type="pres">
      <dgm:prSet presAssocID="{F859943D-1CA9-4FF0-80DB-152E40124E17}" presName="tSp" presStyleCnt="0"/>
      <dgm:spPr/>
    </dgm:pt>
    <dgm:pt modelId="{DE554536-915E-41DB-915F-10BEA7AA41B1}" type="pres">
      <dgm:prSet presAssocID="{F859943D-1CA9-4FF0-80DB-152E40124E17}" presName="bSp" presStyleCnt="0"/>
      <dgm:spPr/>
    </dgm:pt>
    <dgm:pt modelId="{9456A8EA-11E4-4E0B-BA40-3B34504C16AD}" type="pres">
      <dgm:prSet presAssocID="{F859943D-1CA9-4FF0-80DB-152E40124E17}" presName="process" presStyleCnt="0"/>
      <dgm:spPr/>
    </dgm:pt>
    <dgm:pt modelId="{48A39083-FB0D-486F-B857-AA892EA8E37C}" type="pres">
      <dgm:prSet presAssocID="{7252E6BA-94F6-4E37-8BA1-D20B2C076C63}" presName="composite1" presStyleCnt="0"/>
      <dgm:spPr/>
    </dgm:pt>
    <dgm:pt modelId="{F46DA126-8223-4AD0-BE3B-06A7699AD67C}" type="pres">
      <dgm:prSet presAssocID="{7252E6BA-94F6-4E37-8BA1-D20B2C076C63}" presName="dummyNode1" presStyleLbl="node1" presStyleIdx="0" presStyleCnt="3"/>
      <dgm:spPr/>
    </dgm:pt>
    <dgm:pt modelId="{E8D4BD1E-F56B-4BA1-A7EB-806ED392A8F7}" type="pres">
      <dgm:prSet presAssocID="{7252E6BA-94F6-4E37-8BA1-D20B2C076C63}" presName="childNode1" presStyleLbl="bgAcc1" presStyleIdx="0" presStyleCnt="3">
        <dgm:presLayoutVars>
          <dgm:bulletEnabled val="1"/>
        </dgm:presLayoutVars>
      </dgm:prSet>
      <dgm:spPr/>
    </dgm:pt>
    <dgm:pt modelId="{901797B5-4D19-44A6-B242-CD621CF9ADC7}" type="pres">
      <dgm:prSet presAssocID="{7252E6BA-94F6-4E37-8BA1-D20B2C076C63}" presName="childNode1tx" presStyleLbl="bgAcc1" presStyleIdx="0" presStyleCnt="3">
        <dgm:presLayoutVars>
          <dgm:bulletEnabled val="1"/>
        </dgm:presLayoutVars>
      </dgm:prSet>
      <dgm:spPr/>
    </dgm:pt>
    <dgm:pt modelId="{4EA4BA5C-EDB5-4E32-AC98-A51F2E111C5E}" type="pres">
      <dgm:prSet presAssocID="{7252E6BA-94F6-4E37-8BA1-D20B2C076C63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0DF2910B-4CED-4C32-BF28-AE79CA25F147}" type="pres">
      <dgm:prSet presAssocID="{7252E6BA-94F6-4E37-8BA1-D20B2C076C63}" presName="connSite1" presStyleCnt="0"/>
      <dgm:spPr/>
    </dgm:pt>
    <dgm:pt modelId="{1C32D284-32F2-4671-A04A-DEC44A130F84}" type="pres">
      <dgm:prSet presAssocID="{CF597A0C-3125-4378-A6DC-CA4F2607FE41}" presName="Name9" presStyleLbl="sibTrans2D1" presStyleIdx="0" presStyleCnt="2"/>
      <dgm:spPr/>
    </dgm:pt>
    <dgm:pt modelId="{47AF3267-C0F2-4036-9386-B41F93653D61}" type="pres">
      <dgm:prSet presAssocID="{2A4E914B-C3E7-41EB-83DD-4A6912B12987}" presName="composite2" presStyleCnt="0"/>
      <dgm:spPr/>
    </dgm:pt>
    <dgm:pt modelId="{19E6480F-4BB0-4D45-B523-E554B980C195}" type="pres">
      <dgm:prSet presAssocID="{2A4E914B-C3E7-41EB-83DD-4A6912B12987}" presName="dummyNode2" presStyleLbl="node1" presStyleIdx="0" presStyleCnt="3"/>
      <dgm:spPr/>
    </dgm:pt>
    <dgm:pt modelId="{4903CC48-F607-47B0-949C-565D48A4F06A}" type="pres">
      <dgm:prSet presAssocID="{2A4E914B-C3E7-41EB-83DD-4A6912B12987}" presName="childNode2" presStyleLbl="bgAcc1" presStyleIdx="1" presStyleCnt="3">
        <dgm:presLayoutVars>
          <dgm:bulletEnabled val="1"/>
        </dgm:presLayoutVars>
      </dgm:prSet>
      <dgm:spPr/>
    </dgm:pt>
    <dgm:pt modelId="{000F345A-D87B-4D5F-9F25-AF8D71C81BCF}" type="pres">
      <dgm:prSet presAssocID="{2A4E914B-C3E7-41EB-83DD-4A6912B12987}" presName="childNode2tx" presStyleLbl="bgAcc1" presStyleIdx="1" presStyleCnt="3">
        <dgm:presLayoutVars>
          <dgm:bulletEnabled val="1"/>
        </dgm:presLayoutVars>
      </dgm:prSet>
      <dgm:spPr/>
    </dgm:pt>
    <dgm:pt modelId="{EDE2D3F3-0E27-4CBA-B001-E146E6CF2341}" type="pres">
      <dgm:prSet presAssocID="{2A4E914B-C3E7-41EB-83DD-4A6912B12987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71C25CE4-9B66-4918-B32C-DAAA47242302}" type="pres">
      <dgm:prSet presAssocID="{2A4E914B-C3E7-41EB-83DD-4A6912B12987}" presName="connSite2" presStyleCnt="0"/>
      <dgm:spPr/>
    </dgm:pt>
    <dgm:pt modelId="{91713956-0A45-4302-B69F-DD20506345E6}" type="pres">
      <dgm:prSet presAssocID="{A86B75D9-A158-453F-B96C-3634FF6B46AD}" presName="Name18" presStyleLbl="sibTrans2D1" presStyleIdx="1" presStyleCnt="2"/>
      <dgm:spPr/>
    </dgm:pt>
    <dgm:pt modelId="{6EE97F72-2C94-404C-A822-FB03A035AFA8}" type="pres">
      <dgm:prSet presAssocID="{617288E5-0CAB-4467-B411-777B5CAFF836}" presName="composite1" presStyleCnt="0"/>
      <dgm:spPr/>
    </dgm:pt>
    <dgm:pt modelId="{7817F32D-EAC9-4075-BB7F-79B34150B265}" type="pres">
      <dgm:prSet presAssocID="{617288E5-0CAB-4467-B411-777B5CAFF836}" presName="dummyNode1" presStyleLbl="node1" presStyleIdx="1" presStyleCnt="3"/>
      <dgm:spPr/>
    </dgm:pt>
    <dgm:pt modelId="{1AD5E652-A0D6-4BAF-B591-E880B158A462}" type="pres">
      <dgm:prSet presAssocID="{617288E5-0CAB-4467-B411-777B5CAFF836}" presName="childNode1" presStyleLbl="bgAcc1" presStyleIdx="2" presStyleCnt="3">
        <dgm:presLayoutVars>
          <dgm:bulletEnabled val="1"/>
        </dgm:presLayoutVars>
      </dgm:prSet>
      <dgm:spPr/>
    </dgm:pt>
    <dgm:pt modelId="{AFCE1A3A-A645-4A59-A622-442AA69FF9BD}" type="pres">
      <dgm:prSet presAssocID="{617288E5-0CAB-4467-B411-777B5CAFF836}" presName="childNode1tx" presStyleLbl="bgAcc1" presStyleIdx="2" presStyleCnt="3">
        <dgm:presLayoutVars>
          <dgm:bulletEnabled val="1"/>
        </dgm:presLayoutVars>
      </dgm:prSet>
      <dgm:spPr/>
    </dgm:pt>
    <dgm:pt modelId="{D1D349AD-1840-4F13-ACA8-074E317ECD2A}" type="pres">
      <dgm:prSet presAssocID="{617288E5-0CAB-4467-B411-777B5CAFF836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02EDA254-D88D-47BB-9DFE-45268CD28BE0}" type="pres">
      <dgm:prSet presAssocID="{617288E5-0CAB-4467-B411-777B5CAFF836}" presName="connSite1" presStyleCnt="0"/>
      <dgm:spPr/>
    </dgm:pt>
  </dgm:ptLst>
  <dgm:cxnLst>
    <dgm:cxn modelId="{22392409-225D-44DB-8105-A47B989C6E48}" type="presOf" srcId="{A86B75D9-A158-453F-B96C-3634FF6B46AD}" destId="{91713956-0A45-4302-B69F-DD20506345E6}" srcOrd="0" destOrd="0" presId="urn:microsoft.com/office/officeart/2005/8/layout/hProcess4"/>
    <dgm:cxn modelId="{1FB61211-EB3C-45F6-AFDE-E91640BB2BF1}" srcId="{F859943D-1CA9-4FF0-80DB-152E40124E17}" destId="{7252E6BA-94F6-4E37-8BA1-D20B2C076C63}" srcOrd="0" destOrd="0" parTransId="{EC35E364-30E8-49AD-A17C-2A951B36E376}" sibTransId="{CF597A0C-3125-4378-A6DC-CA4F2607FE41}"/>
    <dgm:cxn modelId="{9B77FF23-CD5D-4C5B-9C2E-777905DD5B5C}" srcId="{F859943D-1CA9-4FF0-80DB-152E40124E17}" destId="{2A4E914B-C3E7-41EB-83DD-4A6912B12987}" srcOrd="1" destOrd="0" parTransId="{B6698DA5-3E94-4ABC-B070-42576D42793E}" sibTransId="{A86B75D9-A158-453F-B96C-3634FF6B46AD}"/>
    <dgm:cxn modelId="{9CDFA829-78E5-4678-98BF-5DB471C1E9C1}" srcId="{7252E6BA-94F6-4E37-8BA1-D20B2C076C63}" destId="{23606E21-7B2E-48BC-9ADA-F09C986149EA}" srcOrd="0" destOrd="0" parTransId="{3CA63B22-4E2B-4492-BB4B-1474879954A2}" sibTransId="{1C918F6B-8927-4DB8-A5F9-AF1309497E5E}"/>
    <dgm:cxn modelId="{1165245D-4C62-4D2C-8EEC-ABCEE928DAFF}" type="presOf" srcId="{23606E21-7B2E-48BC-9ADA-F09C986149EA}" destId="{E8D4BD1E-F56B-4BA1-A7EB-806ED392A8F7}" srcOrd="0" destOrd="0" presId="urn:microsoft.com/office/officeart/2005/8/layout/hProcess4"/>
    <dgm:cxn modelId="{D4ABAD72-ED82-425A-8E85-B1A0BA206F56}" type="presOf" srcId="{617288E5-0CAB-4467-B411-777B5CAFF836}" destId="{D1D349AD-1840-4F13-ACA8-074E317ECD2A}" srcOrd="0" destOrd="0" presId="urn:microsoft.com/office/officeart/2005/8/layout/hProcess4"/>
    <dgm:cxn modelId="{41621F74-C8D3-4829-9113-80DB7F976627}" type="presOf" srcId="{7252E6BA-94F6-4E37-8BA1-D20B2C076C63}" destId="{4EA4BA5C-EDB5-4E32-AC98-A51F2E111C5E}" srcOrd="0" destOrd="0" presId="urn:microsoft.com/office/officeart/2005/8/layout/hProcess4"/>
    <dgm:cxn modelId="{553E7174-B90A-4AC8-8901-637BD4351B7D}" type="presOf" srcId="{CF597A0C-3125-4378-A6DC-CA4F2607FE41}" destId="{1C32D284-32F2-4671-A04A-DEC44A130F84}" srcOrd="0" destOrd="0" presId="urn:microsoft.com/office/officeart/2005/8/layout/hProcess4"/>
    <dgm:cxn modelId="{A5930178-1361-4688-96C1-6E8A0806CF58}" type="presOf" srcId="{8287F7CB-AD29-48D8-8E20-2C44F8CDEB67}" destId="{AFCE1A3A-A645-4A59-A622-442AA69FF9BD}" srcOrd="1" destOrd="0" presId="urn:microsoft.com/office/officeart/2005/8/layout/hProcess4"/>
    <dgm:cxn modelId="{68F01786-5B2D-4FA4-9874-DB0D91A02835}" srcId="{2A4E914B-C3E7-41EB-83DD-4A6912B12987}" destId="{8B682064-F511-46BD-AF3B-B9155253426A}" srcOrd="0" destOrd="0" parTransId="{000B45EF-17D8-4D78-BDDC-C29237344675}" sibTransId="{363594EF-0978-4207-ABBB-9CED35BD8DBA}"/>
    <dgm:cxn modelId="{873E28AA-EDA1-4E04-A127-830108D048F8}" type="presOf" srcId="{23606E21-7B2E-48BC-9ADA-F09C986149EA}" destId="{901797B5-4D19-44A6-B242-CD621CF9ADC7}" srcOrd="1" destOrd="0" presId="urn:microsoft.com/office/officeart/2005/8/layout/hProcess4"/>
    <dgm:cxn modelId="{250EBBCC-EA2E-454E-9E71-D4F514870453}" type="presOf" srcId="{8287F7CB-AD29-48D8-8E20-2C44F8CDEB67}" destId="{1AD5E652-A0D6-4BAF-B591-E880B158A462}" srcOrd="0" destOrd="0" presId="urn:microsoft.com/office/officeart/2005/8/layout/hProcess4"/>
    <dgm:cxn modelId="{A5474ED3-6455-4E17-A353-2B955EB8A800}" type="presOf" srcId="{8B682064-F511-46BD-AF3B-B9155253426A}" destId="{000F345A-D87B-4D5F-9F25-AF8D71C81BCF}" srcOrd="1" destOrd="0" presId="urn:microsoft.com/office/officeart/2005/8/layout/hProcess4"/>
    <dgm:cxn modelId="{BB79FCD8-DE51-4762-9201-56C3960F38B2}" type="presOf" srcId="{2A4E914B-C3E7-41EB-83DD-4A6912B12987}" destId="{EDE2D3F3-0E27-4CBA-B001-E146E6CF2341}" srcOrd="0" destOrd="0" presId="urn:microsoft.com/office/officeart/2005/8/layout/hProcess4"/>
    <dgm:cxn modelId="{C097EFDD-20F9-420B-AF1C-18429816E7D3}" type="presOf" srcId="{F859943D-1CA9-4FF0-80DB-152E40124E17}" destId="{E87298E0-78ED-442D-9EE7-41EAA9F68915}" srcOrd="0" destOrd="0" presId="urn:microsoft.com/office/officeart/2005/8/layout/hProcess4"/>
    <dgm:cxn modelId="{716132E0-57F8-4BE2-AF74-4EAF4FE3BB23}" srcId="{617288E5-0CAB-4467-B411-777B5CAFF836}" destId="{8287F7CB-AD29-48D8-8E20-2C44F8CDEB67}" srcOrd="0" destOrd="0" parTransId="{FCD9CB5E-A67D-458C-963D-4850C200C31E}" sibTransId="{0FD49740-66F6-4BC0-8AD5-7D4AC6A844C8}"/>
    <dgm:cxn modelId="{C36B0FF8-91E3-450D-86CF-B66D37C38B87}" type="presOf" srcId="{8B682064-F511-46BD-AF3B-B9155253426A}" destId="{4903CC48-F607-47B0-949C-565D48A4F06A}" srcOrd="0" destOrd="0" presId="urn:microsoft.com/office/officeart/2005/8/layout/hProcess4"/>
    <dgm:cxn modelId="{542F5DFD-D9B8-46B1-95FF-E503C1186C30}" srcId="{F859943D-1CA9-4FF0-80DB-152E40124E17}" destId="{617288E5-0CAB-4467-B411-777B5CAFF836}" srcOrd="2" destOrd="0" parTransId="{C426957E-D26F-4C68-A686-84FCB33C8ECE}" sibTransId="{93559D63-6676-4F45-AA3C-C93DAF408D0D}"/>
    <dgm:cxn modelId="{6E87109D-CBB9-4261-96AA-F7D25B820047}" type="presParOf" srcId="{E87298E0-78ED-442D-9EE7-41EAA9F68915}" destId="{88CE462A-5F0F-4A20-8931-00861DB6EC22}" srcOrd="0" destOrd="0" presId="urn:microsoft.com/office/officeart/2005/8/layout/hProcess4"/>
    <dgm:cxn modelId="{14525D40-4714-44D7-8377-3F4F08530A48}" type="presParOf" srcId="{E87298E0-78ED-442D-9EE7-41EAA9F68915}" destId="{DE554536-915E-41DB-915F-10BEA7AA41B1}" srcOrd="1" destOrd="0" presId="urn:microsoft.com/office/officeart/2005/8/layout/hProcess4"/>
    <dgm:cxn modelId="{A12F3C5C-B5E5-43D3-B819-13E68B5FE054}" type="presParOf" srcId="{E87298E0-78ED-442D-9EE7-41EAA9F68915}" destId="{9456A8EA-11E4-4E0B-BA40-3B34504C16AD}" srcOrd="2" destOrd="0" presId="urn:microsoft.com/office/officeart/2005/8/layout/hProcess4"/>
    <dgm:cxn modelId="{EE2A3C84-BA0C-46D3-B914-CC0B8EF6141A}" type="presParOf" srcId="{9456A8EA-11E4-4E0B-BA40-3B34504C16AD}" destId="{48A39083-FB0D-486F-B857-AA892EA8E37C}" srcOrd="0" destOrd="0" presId="urn:microsoft.com/office/officeart/2005/8/layout/hProcess4"/>
    <dgm:cxn modelId="{3E943811-E8A2-458B-AAAB-08E4C7FD08AE}" type="presParOf" srcId="{48A39083-FB0D-486F-B857-AA892EA8E37C}" destId="{F46DA126-8223-4AD0-BE3B-06A7699AD67C}" srcOrd="0" destOrd="0" presId="urn:microsoft.com/office/officeart/2005/8/layout/hProcess4"/>
    <dgm:cxn modelId="{45DB8562-6405-4674-B853-08BE89F68EBD}" type="presParOf" srcId="{48A39083-FB0D-486F-B857-AA892EA8E37C}" destId="{E8D4BD1E-F56B-4BA1-A7EB-806ED392A8F7}" srcOrd="1" destOrd="0" presId="urn:microsoft.com/office/officeart/2005/8/layout/hProcess4"/>
    <dgm:cxn modelId="{7285C524-1DAB-4AC0-93A4-516B87F482CD}" type="presParOf" srcId="{48A39083-FB0D-486F-B857-AA892EA8E37C}" destId="{901797B5-4D19-44A6-B242-CD621CF9ADC7}" srcOrd="2" destOrd="0" presId="urn:microsoft.com/office/officeart/2005/8/layout/hProcess4"/>
    <dgm:cxn modelId="{154D6A80-8BF7-4DD0-B362-1B5BB4594B21}" type="presParOf" srcId="{48A39083-FB0D-486F-B857-AA892EA8E37C}" destId="{4EA4BA5C-EDB5-4E32-AC98-A51F2E111C5E}" srcOrd="3" destOrd="0" presId="urn:microsoft.com/office/officeart/2005/8/layout/hProcess4"/>
    <dgm:cxn modelId="{579CDAA7-1E7C-4CF6-80D3-34FF1A96E878}" type="presParOf" srcId="{48A39083-FB0D-486F-B857-AA892EA8E37C}" destId="{0DF2910B-4CED-4C32-BF28-AE79CA25F147}" srcOrd="4" destOrd="0" presId="urn:microsoft.com/office/officeart/2005/8/layout/hProcess4"/>
    <dgm:cxn modelId="{47BE7B54-7B81-4985-8E46-923F34C2BA18}" type="presParOf" srcId="{9456A8EA-11E4-4E0B-BA40-3B34504C16AD}" destId="{1C32D284-32F2-4671-A04A-DEC44A130F84}" srcOrd="1" destOrd="0" presId="urn:microsoft.com/office/officeart/2005/8/layout/hProcess4"/>
    <dgm:cxn modelId="{F6485A31-AEF1-4BDE-B0AB-B7833DD29AFB}" type="presParOf" srcId="{9456A8EA-11E4-4E0B-BA40-3B34504C16AD}" destId="{47AF3267-C0F2-4036-9386-B41F93653D61}" srcOrd="2" destOrd="0" presId="urn:microsoft.com/office/officeart/2005/8/layout/hProcess4"/>
    <dgm:cxn modelId="{92AFD371-E968-459E-ADF4-37338CDF4AD4}" type="presParOf" srcId="{47AF3267-C0F2-4036-9386-B41F93653D61}" destId="{19E6480F-4BB0-4D45-B523-E554B980C195}" srcOrd="0" destOrd="0" presId="urn:microsoft.com/office/officeart/2005/8/layout/hProcess4"/>
    <dgm:cxn modelId="{39EF1480-2562-4D96-AAD5-E4FE30B90B53}" type="presParOf" srcId="{47AF3267-C0F2-4036-9386-B41F93653D61}" destId="{4903CC48-F607-47B0-949C-565D48A4F06A}" srcOrd="1" destOrd="0" presId="urn:microsoft.com/office/officeart/2005/8/layout/hProcess4"/>
    <dgm:cxn modelId="{ABF0B326-2C14-4ED1-B0CC-9F1CD7E583F5}" type="presParOf" srcId="{47AF3267-C0F2-4036-9386-B41F93653D61}" destId="{000F345A-D87B-4D5F-9F25-AF8D71C81BCF}" srcOrd="2" destOrd="0" presId="urn:microsoft.com/office/officeart/2005/8/layout/hProcess4"/>
    <dgm:cxn modelId="{E9D39DAF-D82A-4B2A-A1BE-C2578A7D98C3}" type="presParOf" srcId="{47AF3267-C0F2-4036-9386-B41F93653D61}" destId="{EDE2D3F3-0E27-4CBA-B001-E146E6CF2341}" srcOrd="3" destOrd="0" presId="urn:microsoft.com/office/officeart/2005/8/layout/hProcess4"/>
    <dgm:cxn modelId="{7C289EA1-7857-467C-A3F0-4B78D1BBED96}" type="presParOf" srcId="{47AF3267-C0F2-4036-9386-B41F93653D61}" destId="{71C25CE4-9B66-4918-B32C-DAAA47242302}" srcOrd="4" destOrd="0" presId="urn:microsoft.com/office/officeart/2005/8/layout/hProcess4"/>
    <dgm:cxn modelId="{8C3A3CD4-5073-46C8-9288-908658A871D7}" type="presParOf" srcId="{9456A8EA-11E4-4E0B-BA40-3B34504C16AD}" destId="{91713956-0A45-4302-B69F-DD20506345E6}" srcOrd="3" destOrd="0" presId="urn:microsoft.com/office/officeart/2005/8/layout/hProcess4"/>
    <dgm:cxn modelId="{B408B73A-2836-450B-AEC3-EC669BD8FCA7}" type="presParOf" srcId="{9456A8EA-11E4-4E0B-BA40-3B34504C16AD}" destId="{6EE97F72-2C94-404C-A822-FB03A035AFA8}" srcOrd="4" destOrd="0" presId="urn:microsoft.com/office/officeart/2005/8/layout/hProcess4"/>
    <dgm:cxn modelId="{EFB82DC9-6042-4731-BB3F-8A681ABBDD6D}" type="presParOf" srcId="{6EE97F72-2C94-404C-A822-FB03A035AFA8}" destId="{7817F32D-EAC9-4075-BB7F-79B34150B265}" srcOrd="0" destOrd="0" presId="urn:microsoft.com/office/officeart/2005/8/layout/hProcess4"/>
    <dgm:cxn modelId="{56F4E51C-F3B0-4E28-A48C-916AAF0F6C3E}" type="presParOf" srcId="{6EE97F72-2C94-404C-A822-FB03A035AFA8}" destId="{1AD5E652-A0D6-4BAF-B591-E880B158A462}" srcOrd="1" destOrd="0" presId="urn:microsoft.com/office/officeart/2005/8/layout/hProcess4"/>
    <dgm:cxn modelId="{42752D97-50B6-4370-8EB0-46E062CFAE5D}" type="presParOf" srcId="{6EE97F72-2C94-404C-A822-FB03A035AFA8}" destId="{AFCE1A3A-A645-4A59-A622-442AA69FF9BD}" srcOrd="2" destOrd="0" presId="urn:microsoft.com/office/officeart/2005/8/layout/hProcess4"/>
    <dgm:cxn modelId="{2968ACA7-4594-48D0-8C19-0DE4DD28B28E}" type="presParOf" srcId="{6EE97F72-2C94-404C-A822-FB03A035AFA8}" destId="{D1D349AD-1840-4F13-ACA8-074E317ECD2A}" srcOrd="3" destOrd="0" presId="urn:microsoft.com/office/officeart/2005/8/layout/hProcess4"/>
    <dgm:cxn modelId="{850E8B1E-A9B2-433A-969C-9C818517C197}" type="presParOf" srcId="{6EE97F72-2C94-404C-A822-FB03A035AFA8}" destId="{02EDA254-D88D-47BB-9DFE-45268CD28BE0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D4BD1E-F56B-4BA1-A7EB-806ED392A8F7}">
      <dsp:nvSpPr>
        <dsp:cNvPr id="0" name=""/>
        <dsp:cNvSpPr/>
      </dsp:nvSpPr>
      <dsp:spPr>
        <a:xfrm>
          <a:off x="1561" y="1379846"/>
          <a:ext cx="2104906" cy="1736107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 w="28575" cap="flat" cmpd="sng" algn="ctr">
          <a:solidFill>
            <a:schemeClr val="tx1"/>
          </a:solidFill>
          <a:prstDash val="solid"/>
        </a:ln>
        <a:effectLst>
          <a:reflection blurRad="6350" stA="50000" endA="300" endPos="55000" dir="5400000" sy="-100000" algn="bl" rotWithShape="0"/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dirty="0"/>
            <a:t>The journey of PRAN started from 1981 and its evolution to one of the top food manufacturing companies that have set the grounds for development for any potentialities.</a:t>
          </a:r>
          <a:endParaRPr lang="en-US" sz="1200" kern="1200" dirty="0"/>
        </a:p>
      </dsp:txBody>
      <dsp:txXfrm>
        <a:off x="41514" y="1419799"/>
        <a:ext cx="2025000" cy="1284178"/>
      </dsp:txXfrm>
    </dsp:sp>
    <dsp:sp modelId="{1C32D284-32F2-4671-A04A-DEC44A130F84}">
      <dsp:nvSpPr>
        <dsp:cNvPr id="0" name=""/>
        <dsp:cNvSpPr/>
      </dsp:nvSpPr>
      <dsp:spPr>
        <a:xfrm>
          <a:off x="1199111" y="1845937"/>
          <a:ext cx="2243608" cy="2243608"/>
        </a:xfrm>
        <a:prstGeom prst="leftCircularArrow">
          <a:avLst>
            <a:gd name="adj1" fmla="val 2810"/>
            <a:gd name="adj2" fmla="val 343074"/>
            <a:gd name="adj3" fmla="val 2118585"/>
            <a:gd name="adj4" fmla="val 9024489"/>
            <a:gd name="adj5" fmla="val 3279"/>
          </a:avLst>
        </a:prstGeom>
        <a:solidFill>
          <a:schemeClr val="tx1"/>
        </a:solidFill>
        <a:ln>
          <a:noFill/>
        </a:ln>
        <a:effectLst/>
        <a:scene3d>
          <a:camera prst="orthographicFront">
            <a:rot lat="0" lon="0" rev="0"/>
          </a:camera>
          <a:lightRig rig="freezing" dir="t">
            <a:rot lat="0" lon="0" rev="6000000"/>
          </a:lightRig>
        </a:scene3d>
        <a:sp3d contourW="12700" prstMaterial="dkEdge">
          <a:bevelT w="44450" h="25400"/>
          <a:contourClr>
            <a:schemeClr val="accent1">
              <a:tint val="60000"/>
              <a:hueOff val="0"/>
              <a:satOff val="0"/>
              <a:lumOff val="0"/>
              <a:alphaOff val="0"/>
              <a:shade val="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EA4BA5C-EDB5-4E32-AC98-A51F2E111C5E}">
      <dsp:nvSpPr>
        <dsp:cNvPr id="0" name=""/>
        <dsp:cNvSpPr/>
      </dsp:nvSpPr>
      <dsp:spPr>
        <a:xfrm>
          <a:off x="469318" y="2743930"/>
          <a:ext cx="1871027" cy="744046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freezing" dir="t">
            <a:rot lat="0" lon="0" rev="6000000"/>
          </a:lightRig>
        </a:scene3d>
        <a:sp3d contourW="12700" prstMaterial="dkEdge">
          <a:bevelT w="44450" h="25400"/>
          <a:contourClr>
            <a:schemeClr val="accent1">
              <a:hueOff val="0"/>
              <a:satOff val="0"/>
              <a:lumOff val="0"/>
              <a:alphaOff val="0"/>
              <a:shade val="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INCEPTION</a:t>
          </a:r>
        </a:p>
      </dsp:txBody>
      <dsp:txXfrm>
        <a:off x="491110" y="2765722"/>
        <a:ext cx="1827443" cy="700462"/>
      </dsp:txXfrm>
    </dsp:sp>
    <dsp:sp modelId="{4903CC48-F607-47B0-949C-565D48A4F06A}">
      <dsp:nvSpPr>
        <dsp:cNvPr id="0" name=""/>
        <dsp:cNvSpPr/>
      </dsp:nvSpPr>
      <dsp:spPr>
        <a:xfrm>
          <a:off x="2640607" y="1379846"/>
          <a:ext cx="2104906" cy="1736107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 w="28575" cap="flat" cmpd="sng" algn="ctr">
          <a:solidFill>
            <a:schemeClr val="tx1"/>
          </a:solidFill>
          <a:prstDash val="solid"/>
        </a:ln>
        <a:effectLst>
          <a:reflection blurRad="6350" stA="50000" endA="300" endPos="55000" dir="5400000" sy="-100000" algn="bl" rotWithShape="0"/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/>
            <a:t>At PRAN we aspire to generate employment and earn dignity and self-respect for our compatriots through profitable enterprises</a:t>
          </a:r>
          <a:r>
            <a:rPr lang="en-US" sz="1200" b="0" i="0" kern="1200" dirty="0"/>
            <a:t>.</a:t>
          </a:r>
          <a:endParaRPr lang="en-US" sz="1200" kern="1200" dirty="0"/>
        </a:p>
      </dsp:txBody>
      <dsp:txXfrm>
        <a:off x="2680560" y="1791822"/>
        <a:ext cx="2025000" cy="1284178"/>
      </dsp:txXfrm>
    </dsp:sp>
    <dsp:sp modelId="{91713956-0A45-4302-B69F-DD20506345E6}">
      <dsp:nvSpPr>
        <dsp:cNvPr id="0" name=""/>
        <dsp:cNvSpPr/>
      </dsp:nvSpPr>
      <dsp:spPr>
        <a:xfrm>
          <a:off x="3820615" y="338182"/>
          <a:ext cx="2512568" cy="2512568"/>
        </a:xfrm>
        <a:prstGeom prst="circularArrow">
          <a:avLst>
            <a:gd name="adj1" fmla="val 2510"/>
            <a:gd name="adj2" fmla="val 304211"/>
            <a:gd name="adj3" fmla="val 19520278"/>
            <a:gd name="adj4" fmla="val 12575511"/>
            <a:gd name="adj5" fmla="val 2928"/>
          </a:avLst>
        </a:prstGeom>
        <a:solidFill>
          <a:schemeClr val="tx1"/>
        </a:solidFill>
        <a:ln>
          <a:noFill/>
        </a:ln>
        <a:effectLst/>
        <a:scene3d>
          <a:camera prst="orthographicFront">
            <a:rot lat="0" lon="0" rev="0"/>
          </a:camera>
          <a:lightRig rig="freezing" dir="t">
            <a:rot lat="0" lon="0" rev="6000000"/>
          </a:lightRig>
        </a:scene3d>
        <a:sp3d contourW="12700" prstMaterial="dkEdge">
          <a:bevelT w="44450" h="25400"/>
          <a:contourClr>
            <a:schemeClr val="accent1">
              <a:tint val="60000"/>
              <a:hueOff val="0"/>
              <a:satOff val="0"/>
              <a:lumOff val="0"/>
              <a:alphaOff val="0"/>
              <a:shade val="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DE2D3F3-0E27-4CBA-B001-E146E6CF2341}">
      <dsp:nvSpPr>
        <dsp:cNvPr id="0" name=""/>
        <dsp:cNvSpPr/>
      </dsp:nvSpPr>
      <dsp:spPr>
        <a:xfrm>
          <a:off x="3108364" y="1007823"/>
          <a:ext cx="1871027" cy="744046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freezing" dir="t">
            <a:rot lat="0" lon="0" rev="6000000"/>
          </a:lightRig>
        </a:scene3d>
        <a:sp3d contourW="12700" prstMaterial="dkEdge">
          <a:bevelT w="44450" h="25400"/>
          <a:contourClr>
            <a:schemeClr val="accent1">
              <a:hueOff val="0"/>
              <a:satOff val="0"/>
              <a:lumOff val="0"/>
              <a:alphaOff val="0"/>
              <a:shade val="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MISSION AND VISION</a:t>
          </a:r>
        </a:p>
      </dsp:txBody>
      <dsp:txXfrm>
        <a:off x="3130156" y="1029615"/>
        <a:ext cx="1827443" cy="700462"/>
      </dsp:txXfrm>
    </dsp:sp>
    <dsp:sp modelId="{1AD5E652-A0D6-4BAF-B591-E880B158A462}">
      <dsp:nvSpPr>
        <dsp:cNvPr id="0" name=""/>
        <dsp:cNvSpPr/>
      </dsp:nvSpPr>
      <dsp:spPr>
        <a:xfrm>
          <a:off x="5279653" y="1379846"/>
          <a:ext cx="2104906" cy="17361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alpha val="90000"/>
          </a:schemeClr>
        </a:solidFill>
        <a:ln w="28575" cap="flat" cmpd="sng" algn="ctr">
          <a:solidFill>
            <a:schemeClr val="tx1"/>
          </a:solidFill>
          <a:prstDash val="solid"/>
        </a:ln>
        <a:effectLst>
          <a:reflection blurRad="6350" stA="50000" endA="300" endPos="55000" dir="5400000" sy="-100000" algn="bl" rotWithShape="0"/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dirty="0"/>
            <a:t>We view our consumers as our king and us as their partners. Our consumers have given us great success over the years.</a:t>
          </a:r>
          <a:endParaRPr lang="en-US" sz="1200" kern="1200" dirty="0"/>
        </a:p>
      </dsp:txBody>
      <dsp:txXfrm>
        <a:off x="5319606" y="1419799"/>
        <a:ext cx="2025000" cy="1284178"/>
      </dsp:txXfrm>
    </dsp:sp>
    <dsp:sp modelId="{D1D349AD-1840-4F13-ACA8-074E317ECD2A}">
      <dsp:nvSpPr>
        <dsp:cNvPr id="0" name=""/>
        <dsp:cNvSpPr/>
      </dsp:nvSpPr>
      <dsp:spPr>
        <a:xfrm>
          <a:off x="5747410" y="2743930"/>
          <a:ext cx="1871027" cy="744046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freezing" dir="t">
            <a:rot lat="0" lon="0" rev="6000000"/>
          </a:lightRig>
        </a:scene3d>
        <a:sp3d contourW="12700" prstMaterial="dkEdge">
          <a:bevelT w="44450" h="25400"/>
          <a:contourClr>
            <a:schemeClr val="accent1">
              <a:hueOff val="0"/>
              <a:satOff val="0"/>
              <a:lumOff val="0"/>
              <a:alphaOff val="0"/>
              <a:shade val="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CORPORATE VALUES</a:t>
          </a:r>
        </a:p>
      </dsp:txBody>
      <dsp:txXfrm>
        <a:off x="5769202" y="2765722"/>
        <a:ext cx="1827443" cy="700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581400"/>
            <a:ext cx="39624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447800"/>
            <a:ext cx="3962400" cy="21336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8" y="6426201"/>
            <a:ext cx="2819399" cy="126999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6400800"/>
            <a:ext cx="457200" cy="152400"/>
          </a:xfrm>
        </p:spPr>
        <p:txBody>
          <a:bodyPr/>
          <a:lstStyle>
            <a:lvl1pPr algn="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0" y="6296248"/>
            <a:ext cx="2820987" cy="1524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36576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8" y="6426201"/>
            <a:ext cx="2819399" cy="126999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6400800"/>
            <a:ext cx="533400" cy="1524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0" y="6296248"/>
            <a:ext cx="2820987" cy="1524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828800"/>
            <a:ext cx="3200400" cy="17526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3578224"/>
            <a:ext cx="3200645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4290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572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5238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675288"/>
            <a:ext cx="35814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3429000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3840162"/>
            <a:ext cx="35814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457200"/>
            <a:ext cx="3962400" cy="571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4700016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676400"/>
            <a:ext cx="4696967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823693" y="0"/>
            <a:ext cx="320307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36576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772400" y="6400800"/>
            <a:ext cx="5334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tel:02-41081851" TargetMode="External"/><Relationship Id="rId2" Type="http://schemas.openxmlformats.org/officeDocument/2006/relationships/hyperlink" Target="tel:+880-222228179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81000" y="3124200"/>
            <a:ext cx="6324600" cy="2209801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400" b="1" dirty="0"/>
            </a:br>
            <a:br>
              <a:rPr lang="en-US" sz="2400" b="1" dirty="0"/>
            </a:br>
            <a:br>
              <a:rPr lang="en-US" sz="2400" b="1" dirty="0"/>
            </a:br>
            <a:br>
              <a:rPr lang="en-US" sz="2400" b="1" dirty="0"/>
            </a:br>
            <a:br>
              <a:rPr lang="en-US" sz="2400" b="1" dirty="0"/>
            </a:br>
            <a:br>
              <a:rPr lang="en-US" sz="2400" b="1" dirty="0"/>
            </a:br>
            <a:br>
              <a:rPr lang="en-US" sz="2400" b="1" dirty="0"/>
            </a:br>
            <a:br>
              <a:rPr lang="en-US" sz="2400" b="1" dirty="0"/>
            </a:br>
            <a:br>
              <a:rPr lang="en-US" sz="2400" b="1" dirty="0"/>
            </a:br>
            <a:br>
              <a:rPr lang="en-US" sz="2400" b="1" dirty="0"/>
            </a:br>
            <a:r>
              <a:rPr lang="en-US" sz="3600" b="1" dirty="0"/>
              <a:t>AN OVERVIEW OF PRAN-RFL GROUP LTD</a:t>
            </a:r>
            <a:r>
              <a:rPr lang="en-US" sz="3600" dirty="0"/>
              <a:t>. </a:t>
            </a:r>
            <a:br>
              <a:rPr lang="en-US" sz="2200" b="1" dirty="0"/>
            </a:br>
            <a:br>
              <a:rPr lang="en-US" sz="2400" b="1" dirty="0"/>
            </a:b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SANJIDA AKTER RIMU</a:t>
            </a:r>
            <a:b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DEPARTMENT OF MANAGEMENT STUDIES</a:t>
            </a:r>
            <a:b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BATCH-041</a:t>
            </a:r>
            <a:b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06.12.24</a:t>
            </a:r>
            <a:endParaRPr lang="en-US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457200"/>
            <a:ext cx="2857500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86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8956755"/>
              </p:ext>
            </p:extLst>
          </p:nvPr>
        </p:nvGraphicFramePr>
        <p:xfrm>
          <a:off x="685800" y="1524000"/>
          <a:ext cx="76200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620000" cy="1143000"/>
          </a:xfrm>
        </p:spPr>
        <p:txBody>
          <a:bodyPr/>
          <a:lstStyle/>
          <a:p>
            <a:pPr algn="ctr"/>
            <a:r>
              <a:rPr lang="en-US" sz="4000" dirty="0"/>
              <a:t>OVERVIEW OF PRAN-RFL GROUP</a:t>
            </a:r>
          </a:p>
        </p:txBody>
      </p:sp>
    </p:spTree>
    <p:extLst>
      <p:ext uri="{BB962C8B-B14F-4D97-AF65-F5344CB8AC3E}">
        <p14:creationId xmlns:p14="http://schemas.microsoft.com/office/powerpoint/2010/main" val="4246264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620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PRODUCTS OF PRAN-RFL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76400"/>
            <a:ext cx="7620000" cy="45719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algn="just"/>
            <a:r>
              <a:rPr lang="en-US" dirty="0"/>
              <a:t>There are numerous products that PRAN-RFL Group offers to its customers including food and beverage, plastics, agribusiness, home ware, culinary, dairy, snacks, confectionery and easy home service etc.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Including some pictures of PRAN_RFL’s products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62" y="3833812"/>
            <a:ext cx="3124200" cy="1466850"/>
          </a:xfrm>
          <a:prstGeom prst="rect">
            <a:avLst/>
          </a:prstGeom>
          <a:ln w="3810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  <a:reflection blurRad="6350" stA="50000" endA="300" endPos="55000" dir="5400000" sy="-100000" algn="bl" rotWithShape="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848100"/>
            <a:ext cx="3124200" cy="14668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  <a:reflection blurRad="6350" stA="50000" endA="300" endPos="5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2887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457200" y="657909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Marketing Strategy of PRAN-RFL Group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332556"/>
              </p:ext>
            </p:extLst>
          </p:nvPr>
        </p:nvGraphicFramePr>
        <p:xfrm>
          <a:off x="838200" y="1828800"/>
          <a:ext cx="7315200" cy="3886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Marketing Strategy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Product variety, quality, design, feature, brand</a:t>
                      </a:r>
                      <a:r>
                        <a:rPr lang="en-US" sz="2000" baseline="0" dirty="0"/>
                        <a:t> name, packing</a:t>
                      </a:r>
                      <a:r>
                        <a:rPr lang="en-US" baseline="0" dirty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/>
                        <a:t>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List price, discount, allowances, credit term,</a:t>
                      </a:r>
                      <a:r>
                        <a:rPr lang="en-US" sz="2000" baseline="0" dirty="0"/>
                        <a:t> payment period.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Promotion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Sales</a:t>
                      </a:r>
                      <a:r>
                        <a:rPr lang="en-US" sz="2000" baseline="0" dirty="0"/>
                        <a:t> promotion, advertising, sales force, public relation, direct marketing.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Places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Channels, coverage, locations, inventory,</a:t>
                      </a:r>
                      <a:r>
                        <a:rPr lang="en-US" sz="2000" baseline="0" dirty="0"/>
                        <a:t> transport.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4822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0053081"/>
              </p:ext>
            </p:extLst>
          </p:nvPr>
        </p:nvGraphicFramePr>
        <p:xfrm>
          <a:off x="1066800" y="1905000"/>
          <a:ext cx="6248400" cy="31293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03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5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631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Sales and cost of PRAN-RFL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3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Revenue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4690000000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3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Operating income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359670000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3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Net income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83000000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3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Export goals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2000000000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3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Annual Turnover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2000000000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63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Total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9132670000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81000" y="457200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Financial Analysis of PRAN-RFL Group</a:t>
            </a:r>
          </a:p>
        </p:txBody>
      </p:sp>
    </p:spTree>
    <p:extLst>
      <p:ext uri="{BB962C8B-B14F-4D97-AF65-F5344CB8AC3E}">
        <p14:creationId xmlns:p14="http://schemas.microsoft.com/office/powerpoint/2010/main" val="3546733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457200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Financial Analysis of PRAN-RFL Group</a:t>
            </a: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6706256"/>
              </p:ext>
            </p:extLst>
          </p:nvPr>
        </p:nvGraphicFramePr>
        <p:xfrm>
          <a:off x="1524000" y="1600200"/>
          <a:ext cx="5943600" cy="358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53759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800" y="609600"/>
            <a:ext cx="81751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video of an PRAN product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2" name="PRAN_Chanachur_Perfect_Mixing(360p)">
            <a:hlinkClick r:id="" action="ppaction://media"/>
            <a:extLst>
              <a:ext uri="{FF2B5EF4-FFF2-40B4-BE49-F238E27FC236}">
                <a16:creationId xmlns:a16="http://schemas.microsoft.com/office/drawing/2014/main" id="{B764C2C0-B2E8-43A5-8464-10FEB71C0DD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33600" y="2057400"/>
            <a:ext cx="4876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5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1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620000" cy="1143000"/>
          </a:xfrm>
        </p:spPr>
        <p:txBody>
          <a:bodyPr/>
          <a:lstStyle/>
          <a:p>
            <a:pPr algn="ctr"/>
            <a:r>
              <a:rPr lang="en-US" sz="40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76400"/>
            <a:ext cx="7467600" cy="472440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sz="6000" b="1" u="sng" dirty="0"/>
              <a:t>Final Thoughts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sz="5000" dirty="0"/>
              <a:t>We are a team of 145,000 people – people with purpose who thrive in our unique culture and make a real and lasting difference to the planet, our society and their careers.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6000" b="1" u="sng" dirty="0"/>
              <a:t>Contact information</a:t>
            </a:r>
          </a:p>
          <a:p>
            <a:pPr marL="0" indent="0">
              <a:buNone/>
            </a:pPr>
            <a:endParaRPr lang="en-US" sz="3800" dirty="0"/>
          </a:p>
          <a:p>
            <a:pPr marL="0" indent="0" algn="ctr">
              <a:buNone/>
            </a:pPr>
            <a:r>
              <a:rPr lang="en-US" sz="5000" b="1" dirty="0"/>
              <a:t>Corporate Headquarters:</a:t>
            </a:r>
            <a:r>
              <a:rPr lang="en-US" sz="5000" i="1" dirty="0"/>
              <a:t> </a:t>
            </a:r>
            <a:endParaRPr lang="en-US" sz="5000" dirty="0"/>
          </a:p>
          <a:p>
            <a:pPr marL="0" indent="0" algn="ctr">
              <a:buNone/>
            </a:pPr>
            <a:r>
              <a:rPr lang="en-US" sz="5000" dirty="0"/>
              <a:t>PRAN Center</a:t>
            </a:r>
          </a:p>
          <a:p>
            <a:pPr marL="0" indent="0" algn="ctr">
              <a:buNone/>
            </a:pPr>
            <a:r>
              <a:rPr lang="en-US" sz="5000" dirty="0"/>
              <a:t>105 </a:t>
            </a:r>
            <a:r>
              <a:rPr lang="en-US" sz="5000" dirty="0" err="1"/>
              <a:t>Pragati</a:t>
            </a:r>
            <a:r>
              <a:rPr lang="en-US" sz="5000" dirty="0"/>
              <a:t> </a:t>
            </a:r>
            <a:r>
              <a:rPr lang="en-US" sz="5000" dirty="0" err="1"/>
              <a:t>Sarani</a:t>
            </a:r>
            <a:r>
              <a:rPr lang="en-US" sz="5000" dirty="0"/>
              <a:t>, Middle </a:t>
            </a:r>
            <a:r>
              <a:rPr lang="en-US" sz="5000" dirty="0" err="1"/>
              <a:t>Badda</a:t>
            </a:r>
            <a:r>
              <a:rPr lang="en-US" sz="5000" dirty="0"/>
              <a:t>,</a:t>
            </a:r>
          </a:p>
          <a:p>
            <a:pPr marL="0" indent="0" algn="ctr">
              <a:buNone/>
            </a:pPr>
            <a:r>
              <a:rPr lang="en-US" sz="5000" dirty="0"/>
              <a:t>Dhaka - 1212, Bangladesh.</a:t>
            </a:r>
          </a:p>
          <a:p>
            <a:pPr marL="0" indent="0" algn="ctr">
              <a:buNone/>
            </a:pPr>
            <a:r>
              <a:rPr lang="en-US" sz="5000" dirty="0">
                <a:hlinkClick r:id="rId2"/>
              </a:rPr>
              <a:t>Phone: +880-2222281792</a:t>
            </a:r>
            <a:endParaRPr lang="en-US" sz="5000" dirty="0"/>
          </a:p>
          <a:p>
            <a:pPr marL="0" indent="0" algn="ctr">
              <a:buNone/>
            </a:pPr>
            <a:r>
              <a:rPr lang="en-US" sz="5000" dirty="0"/>
              <a:t>               </a:t>
            </a:r>
            <a:r>
              <a:rPr lang="en-US" sz="5000" dirty="0">
                <a:hlinkClick r:id="rId3"/>
              </a:rPr>
              <a:t>02-41081851-54</a:t>
            </a:r>
            <a:endParaRPr lang="en-US" sz="5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489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omposite">
  <a:themeElements>
    <a:clrScheme name="Composite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Composit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os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mposite">
    <a:dk1>
      <a:sysClr val="windowText" lastClr="000000"/>
    </a:dk1>
    <a:lt1>
      <a:sysClr val="window" lastClr="FFFFFF"/>
    </a:lt1>
    <a:dk2>
      <a:srgbClr val="5B6973"/>
    </a:dk2>
    <a:lt2>
      <a:srgbClr val="E7ECED"/>
    </a:lt2>
    <a:accent1>
      <a:srgbClr val="98C723"/>
    </a:accent1>
    <a:accent2>
      <a:srgbClr val="59B0B9"/>
    </a:accent2>
    <a:accent3>
      <a:srgbClr val="DEAE00"/>
    </a:accent3>
    <a:accent4>
      <a:srgbClr val="B77BB4"/>
    </a:accent4>
    <a:accent5>
      <a:srgbClr val="E0773C"/>
    </a:accent5>
    <a:accent6>
      <a:srgbClr val="A98D63"/>
    </a:accent6>
    <a:hlink>
      <a:srgbClr val="26CBEC"/>
    </a:hlink>
    <a:folHlink>
      <a:srgbClr val="598C8C"/>
    </a:folHlink>
  </a:clrScheme>
  <a:fontScheme name="Composit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Composite">
    <a:fillStyleLst>
      <a:solidFill>
        <a:schemeClr val="phClr"/>
      </a:solidFill>
      <a:gradFill rotWithShape="1">
        <a:gsLst>
          <a:gs pos="0">
            <a:schemeClr val="phClr">
              <a:tint val="50000"/>
              <a:shade val="95000"/>
              <a:satMod val="300000"/>
            </a:schemeClr>
          </a:gs>
          <a:gs pos="12000">
            <a:schemeClr val="phClr">
              <a:tint val="50000"/>
              <a:shade val="90000"/>
              <a:satMod val="250000"/>
            </a:schemeClr>
          </a:gs>
          <a:gs pos="100000">
            <a:schemeClr val="phClr">
              <a:tint val="85000"/>
              <a:shade val="75000"/>
              <a:satMod val="1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75000"/>
              <a:shade val="95000"/>
              <a:satMod val="175000"/>
            </a:schemeClr>
          </a:gs>
          <a:gs pos="12000">
            <a:schemeClr val="phClr">
              <a:tint val="90000"/>
              <a:shade val="90000"/>
              <a:satMod val="150000"/>
            </a:schemeClr>
          </a:gs>
          <a:gs pos="100000">
            <a:schemeClr val="phClr">
              <a:tint val="100000"/>
              <a:shade val="75000"/>
              <a:satMod val="150000"/>
            </a:schemeClr>
          </a:gs>
        </a:gsLst>
        <a:lin ang="16200000" scaled="1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15875" cap="flat" cmpd="sng" algn="ctr">
        <a:solidFill>
          <a:schemeClr val="phClr"/>
        </a:solidFill>
        <a:prstDash val="solid"/>
      </a:ln>
      <a:ln w="254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/>
        <a:scene3d>
          <a:camera prst="orthographicFront">
            <a:rot lat="0" lon="0" rev="0"/>
          </a:camera>
          <a:lightRig rig="freezing" dir="t">
            <a:rot lat="0" lon="0" rev="6000000"/>
          </a:lightRig>
        </a:scene3d>
        <a:sp3d contourW="12700" prstMaterial="dkEdge">
          <a:bevelT w="44450" h="25400"/>
          <a:contourClr>
            <a:schemeClr val="phClr">
              <a:shade val="30000"/>
            </a:schemeClr>
          </a:contourClr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  <a:shade val="80000"/>
              <a:satMod val="110000"/>
              <a:lumMod val="80000"/>
            </a:schemeClr>
          </a:gs>
          <a:gs pos="79000">
            <a:schemeClr val="phClr">
              <a:tint val="100000"/>
              <a:shade val="90000"/>
              <a:satMod val="105000"/>
              <a:lumMod val="100000"/>
            </a:schemeClr>
          </a:gs>
          <a:gs pos="100000">
            <a:schemeClr val="phClr">
              <a:tint val="95000"/>
              <a:shade val="100000"/>
              <a:satMod val="110000"/>
              <a:lumMod val="115000"/>
            </a:schemeClr>
          </a:gs>
        </a:gsLst>
        <a:lin ang="5400000" scaled="0"/>
      </a:gradFill>
      <a:gradFill rotWithShape="1">
        <a:gsLst>
          <a:gs pos="0">
            <a:schemeClr val="phClr">
              <a:tint val="90000"/>
              <a:shade val="100000"/>
              <a:satMod val="100000"/>
              <a:lumMod val="110000"/>
            </a:schemeClr>
          </a:gs>
          <a:gs pos="83000">
            <a:schemeClr val="phClr">
              <a:shade val="75000"/>
              <a:satMod val="200000"/>
            </a:schemeClr>
          </a:gs>
          <a:gs pos="100000">
            <a:schemeClr val="phClr">
              <a:shade val="90000"/>
              <a:satMod val="200000"/>
            </a:schemeClr>
          </a:gs>
        </a:gsLst>
        <a:path path="circle">
          <a:fillToRect l="75000" t="100000" b="30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403</TotalTime>
  <Words>342</Words>
  <Application>Microsoft Office PowerPoint</Application>
  <PresentationFormat>On-screen Show (4:3)</PresentationFormat>
  <Paragraphs>81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Wingdings</vt:lpstr>
      <vt:lpstr>Composite</vt:lpstr>
      <vt:lpstr>          AN OVERVIEW OF PRAN-RFL GROUP LTD.   SANJIDA AKTER RIMU DEPARTMENT OF MANAGEMENT STUDIES BATCH-041 06.12.24</vt:lpstr>
      <vt:lpstr>OVERVIEW OF PRAN-RFL GROUP</vt:lpstr>
      <vt:lpstr>PRODUCTS OF PRAN-RFL GROUP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SANJIDA AKTER RIMU DEPARTMENT OF MANAGEMENT STUDIES BATCH-041 06.12.24</dc:title>
  <dc:creator>BCS</dc:creator>
  <cp:lastModifiedBy>HP-Public</cp:lastModifiedBy>
  <cp:revision>39</cp:revision>
  <dcterms:created xsi:type="dcterms:W3CDTF">2006-08-16T00:00:00Z</dcterms:created>
  <dcterms:modified xsi:type="dcterms:W3CDTF">2024-12-07T06:54:44Z</dcterms:modified>
</cp:coreProperties>
</file>